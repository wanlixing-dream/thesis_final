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D8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zt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1999" y="540000"/>
            <a:ext cx="1800000" cy="208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0000" y="2880000"/>
            <a:ext cx="8063999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InterMoBA-MTL</a:t>
            </a:r>
          </a:p>
          <a:p>
            <a:pPr algn="ctr">
              <a:spcBef>
                <a:spcPts val="800"/>
              </a:spcBef>
              <a:defRPr sz="1800">
                <a:solidFill>
                  <a:srgbClr val="FFFFFF"/>
                </a:solidFill>
              </a:defRPr>
            </a:pPr>
            <a:r>
              <a:t>蛋白-配体多任务判别式预测与可解释能量建模的系统研究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4680000"/>
            <a:ext cx="8063999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400">
                <a:solidFill>
                  <a:srgbClr val="FFFFFF"/>
                </a:solidFill>
              </a:defRPr>
            </a:pPr>
            <a:r>
              <a:t>答辩人：吴亮希</a:t>
            </a:r>
          </a:p>
          <a:p>
            <a:pPr algn="ctr">
              <a:spcAft>
                <a:spcPts val="400"/>
              </a:spcAft>
              <a:defRPr sz="1400">
                <a:solidFill>
                  <a:srgbClr val="FFFFFF"/>
                </a:solidFill>
              </a:defRPr>
            </a:pPr>
            <a:r>
              <a:t>指导教师：王鑫 助理教授</a:t>
            </a:r>
          </a:p>
          <a:p>
            <a:pPr algn="ctr">
              <a:spcAft>
                <a:spcPts val="400"/>
              </a:spcAft>
              <a:defRPr sz="1400">
                <a:solidFill>
                  <a:srgbClr val="FFFFFF"/>
                </a:solidFill>
              </a:defRPr>
            </a:pPr>
            <a:r>
              <a:t>学院：人工智能学院　专业：计算机科学与技术</a:t>
            </a:r>
          </a:p>
          <a:p>
            <a:pPr algn="ctr">
              <a:spcAft>
                <a:spcPts val="400"/>
              </a:spcAft>
              <a:defRPr sz="1400">
                <a:solidFill>
                  <a:srgbClr val="FFFFFF"/>
                </a:solidFill>
              </a:defRPr>
            </a:pPr>
            <a:r>
              <a:t>2026年5月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0000"/>
          </a:xfrm>
          <a:prstGeom prst="rect">
            <a:avLst/>
          </a:prstGeom>
          <a:solidFill>
            <a:srgbClr val="003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36000"/>
            <a:ext cx="840000" cy="306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00" b="0">
                <a:solidFill>
                  <a:srgbClr val="AACCE8"/>
                </a:solidFill>
              </a:defRPr>
            </a:pPr>
            <a:r>
              <a:t>背景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0000" y="36000"/>
            <a:ext cx="840000" cy="306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00" b="0">
                <a:solidFill>
                  <a:srgbClr val="AACCE8"/>
                </a:solidFill>
              </a:defRPr>
            </a:pPr>
            <a:r>
              <a:t>内容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80000" y="36000"/>
            <a:ext cx="840000" cy="306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00" b="0">
                <a:solidFill>
                  <a:srgbClr val="AACCE8"/>
                </a:solidFill>
              </a:defRPr>
            </a:pPr>
            <a:r>
              <a:t>架构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20000" y="36000"/>
            <a:ext cx="840000" cy="306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00" b="0">
                <a:solidFill>
                  <a:srgbClr val="AACCE8"/>
                </a:solidFill>
              </a:defRPr>
            </a:pPr>
            <a:r>
              <a:t>训练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60000" y="36000"/>
            <a:ext cx="840000" cy="306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00" b="0">
                <a:solidFill>
                  <a:srgbClr val="AACCE8"/>
                </a:solidFill>
              </a:defRPr>
            </a:pPr>
            <a:r>
              <a:t>能量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0000" y="36000"/>
            <a:ext cx="840000" cy="306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00" b="0">
                <a:solidFill>
                  <a:srgbClr val="AACCE8"/>
                </a:solidFill>
              </a:defRPr>
            </a:pPr>
            <a:r>
              <a:t>亲和力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40000" y="36000"/>
            <a:ext cx="840000" cy="306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00" b="0">
                <a:solidFill>
                  <a:srgbClr val="AACCE8"/>
                </a:solidFill>
              </a:defRPr>
            </a:pPr>
            <a:r>
              <a:t>姿态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80000" y="36000"/>
            <a:ext cx="840000" cy="306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00" b="0">
                <a:solidFill>
                  <a:srgbClr val="AACCE8"/>
                </a:solidFill>
              </a:defRPr>
            </a:pPr>
            <a:r>
              <a:t>可解释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0000" y="36000"/>
            <a:ext cx="840000" cy="306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00" b="0">
                <a:solidFill>
                  <a:srgbClr val="AACCE8"/>
                </a:solidFill>
              </a:defRPr>
            </a:pPr>
            <a:r>
              <a:t>总结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88000" y="0"/>
            <a:ext cx="1656000" cy="36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chool_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2000" y="45000"/>
            <a:ext cx="1368000" cy="270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0000" y="540000"/>
            <a:ext cx="79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3D87"/>
                </a:solidFill>
              </a:defRPr>
            </a:pPr>
            <a:r>
              <a:t>目录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00000" y="6408000"/>
            <a:ext cx="9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2/12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0000" y="1368000"/>
            <a:ext cx="720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72B2"/>
                </a:solidFill>
              </a:defRPr>
            </a:pPr>
            <a:r>
              <a:t>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28000" y="1368000"/>
            <a:ext cx="6480000" cy="432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500">
                <a:solidFill>
                  <a:srgbClr val="2D2D2D"/>
                </a:solidFill>
              </a:defRPr>
            </a:pPr>
            <a:r>
              <a:t>研究背景与动机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0000" y="1854000"/>
            <a:ext cx="7200000" cy="635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0000" y="1908000"/>
            <a:ext cx="720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72B2"/>
                </a:solidFill>
              </a:defRPr>
            </a:pPr>
            <a:r>
              <a:t>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28000" y="1908000"/>
            <a:ext cx="6480000" cy="432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500">
                <a:solidFill>
                  <a:srgbClr val="2D2D2D"/>
                </a:solidFill>
              </a:defRPr>
            </a:pPr>
            <a:r>
              <a:t>主要研究内容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0000" y="2394000"/>
            <a:ext cx="7200000" cy="635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0000" y="2448000"/>
            <a:ext cx="720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72B2"/>
                </a:solidFill>
              </a:defRPr>
            </a:pPr>
            <a:r>
              <a:t>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28000" y="2448000"/>
            <a:ext cx="6480000" cy="432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500">
                <a:solidFill>
                  <a:srgbClr val="2D2D2D"/>
                </a:solidFill>
              </a:defRPr>
            </a:pPr>
            <a:r>
              <a:t>InterMoBA-MTL 系统架构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0000" y="2934000"/>
            <a:ext cx="7200000" cy="635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0000" y="2988000"/>
            <a:ext cx="720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72B2"/>
                </a:solidFill>
              </a:defRPr>
            </a:pPr>
            <a:r>
              <a:t>四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28000" y="2988000"/>
            <a:ext cx="6480000" cy="432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500">
                <a:solidFill>
                  <a:srgbClr val="2D2D2D"/>
                </a:solidFill>
              </a:defRPr>
            </a:pPr>
            <a:r>
              <a:t>两阶段训练策略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00000" y="3474000"/>
            <a:ext cx="7200000" cy="635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0000" y="3528000"/>
            <a:ext cx="720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72B2"/>
                </a:solidFill>
              </a:defRPr>
            </a:pPr>
            <a:r>
              <a:t>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28000" y="3528000"/>
            <a:ext cx="6480000" cy="432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500">
                <a:solidFill>
                  <a:srgbClr val="2D2D2D"/>
                </a:solidFill>
              </a:defRPr>
            </a:pPr>
            <a:r>
              <a:t>可解释能量建模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0000" y="4014000"/>
            <a:ext cx="7200000" cy="635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0000" y="4068000"/>
            <a:ext cx="720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72B2"/>
                </a:solidFill>
              </a:defRPr>
            </a:pPr>
            <a:r>
              <a:t>六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28000" y="4068000"/>
            <a:ext cx="6480000" cy="432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500">
                <a:solidFill>
                  <a:srgbClr val="2D2D2D"/>
                </a:solidFill>
              </a:defRPr>
            </a:pPr>
            <a:r>
              <a:t>实验结果 — 亲和力预测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00000" y="4554000"/>
            <a:ext cx="7200000" cy="635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0000" y="4608000"/>
            <a:ext cx="720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72B2"/>
                </a:solidFill>
              </a:defRPr>
            </a:pPr>
            <a:r>
              <a:t>七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728000" y="4608000"/>
            <a:ext cx="6480000" cy="432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500">
                <a:solidFill>
                  <a:srgbClr val="2D2D2D"/>
                </a:solidFill>
              </a:defRPr>
            </a:pPr>
            <a:r>
              <a:t>姿态选择 &amp; PoseBusters 独立验证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00000" y="5094000"/>
            <a:ext cx="7200000" cy="635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0000" y="5148000"/>
            <a:ext cx="720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72B2"/>
                </a:solidFill>
              </a:defRPr>
            </a:pPr>
            <a:r>
              <a:t>八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728000" y="5148000"/>
            <a:ext cx="6480000" cy="432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500">
                <a:solidFill>
                  <a:srgbClr val="2D2D2D"/>
                </a:solidFill>
              </a:defRPr>
            </a:pPr>
            <a:r>
              <a:t>可解释性 — 相互作用恢复分析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00000" y="5634000"/>
            <a:ext cx="7200000" cy="635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00000" y="5688000"/>
            <a:ext cx="720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72B2"/>
                </a:solidFill>
              </a:defRPr>
            </a:pPr>
            <a:r>
              <a:t>九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28000" y="5688000"/>
            <a:ext cx="6480000" cy="432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500">
                <a:solidFill>
                  <a:srgbClr val="2D2D2D"/>
                </a:solidFill>
              </a:defRPr>
            </a:pPr>
            <a:r>
              <a:t>总结与贡献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00000" y="6174000"/>
            <a:ext cx="7200000" cy="635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0000"/>
          </a:xfrm>
          <a:prstGeom prst="rect">
            <a:avLst/>
          </a:prstGeom>
          <a:solidFill>
            <a:srgbClr val="003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36000"/>
            <a:ext cx="840000" cy="306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背景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0000" y="36000"/>
            <a:ext cx="840000" cy="306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00" b="0">
                <a:solidFill>
                  <a:srgbClr val="AACCE8"/>
                </a:solidFill>
              </a:defRPr>
            </a:pPr>
            <a:r>
              <a:t>内容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80000" y="36000"/>
            <a:ext cx="840000" cy="306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00" b="0">
                <a:solidFill>
                  <a:srgbClr val="AACCE8"/>
                </a:solidFill>
              </a:defRPr>
            </a:pPr>
            <a:r>
              <a:t>架构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20000" y="36000"/>
            <a:ext cx="840000" cy="306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00" b="0">
                <a:solidFill>
                  <a:srgbClr val="AACCE8"/>
                </a:solidFill>
              </a:defRPr>
            </a:pPr>
            <a:r>
              <a:t>训练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60000" y="36000"/>
            <a:ext cx="840000" cy="306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00" b="0">
                <a:solidFill>
                  <a:srgbClr val="AACCE8"/>
                </a:solidFill>
              </a:defRPr>
            </a:pPr>
            <a:r>
              <a:t>能量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0000" y="36000"/>
            <a:ext cx="840000" cy="306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00" b="0">
                <a:solidFill>
                  <a:srgbClr val="AACCE8"/>
                </a:solidFill>
              </a:defRPr>
            </a:pPr>
            <a:r>
              <a:t>亲和力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40000" y="36000"/>
            <a:ext cx="840000" cy="306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00" b="0">
                <a:solidFill>
                  <a:srgbClr val="AACCE8"/>
                </a:solidFill>
              </a:defRPr>
            </a:pPr>
            <a:r>
              <a:t>姿态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80000" y="36000"/>
            <a:ext cx="840000" cy="306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00" b="0">
                <a:solidFill>
                  <a:srgbClr val="AACCE8"/>
                </a:solidFill>
              </a:defRPr>
            </a:pPr>
            <a:r>
              <a:t>可解释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0000" y="36000"/>
            <a:ext cx="840000" cy="306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00" b="0">
                <a:solidFill>
                  <a:srgbClr val="AACCE8"/>
                </a:solidFill>
              </a:defRPr>
            </a:pPr>
            <a:r>
              <a:t>总结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88000" y="0"/>
            <a:ext cx="1656000" cy="36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chool_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2000" y="45000"/>
            <a:ext cx="1368000" cy="270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0000" y="540000"/>
            <a:ext cx="79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3D87"/>
                </a:solidFill>
              </a:defRPr>
            </a:pPr>
            <a:r>
              <a:t>一、研究背景与动机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00000" y="6408000"/>
            <a:ext cx="9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3/12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2000" y="1152000"/>
            <a:ext cx="4500000" cy="46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0072B2"/>
                </a:solidFill>
              </a:defRPr>
            </a:pPr>
            <a:r>
              <a:t>● 问题背景</a:t>
            </a:r>
          </a:p>
          <a:p>
            <a:pPr>
              <a:spcAft>
                <a:spcPts val="600"/>
              </a:spcAft>
              <a:defRPr sz="1200">
                <a:solidFill>
                  <a:srgbClr val="2D2D2D"/>
                </a:solidFill>
              </a:defRPr>
            </a:pPr>
            <a:r>
              <a:t>   蛋白-配体结合预测是药物设计核心</a:t>
            </a:r>
          </a:p>
          <a:p>
            <a:pPr>
              <a:spcAft>
                <a:spcPts val="600"/>
              </a:spcAft>
              <a:defRPr sz="1200">
                <a:solidFill>
                  <a:srgbClr val="2D2D2D"/>
                </a:solidFill>
              </a:defRPr>
            </a:pPr>
            <a:r>
              <a:t>   新药平均耗资 20 亿美元、耗时 10+ 年</a:t>
            </a:r>
          </a:p>
          <a:p>
            <a:pPr>
              <a:spcAft>
                <a:spcPts val="600"/>
              </a:spcAft>
              <a:defRPr sz="1200">
                <a:solidFill>
                  <a:srgbClr val="2D2D2D"/>
                </a:solidFill>
              </a:defRPr>
            </a:pPr>
          </a:p>
          <a:p>
            <a:pPr>
              <a:spcAft>
                <a:spcPts val="600"/>
              </a:spcAft>
              <a:defRPr sz="1200" b="1">
                <a:solidFill>
                  <a:srgbClr val="0072B2"/>
                </a:solidFill>
              </a:defRPr>
            </a:pPr>
            <a:r>
              <a:t>● 现有局限</a:t>
            </a:r>
          </a:p>
          <a:p>
            <a:pPr>
              <a:spcAft>
                <a:spcPts val="600"/>
              </a:spcAft>
              <a:defRPr sz="1200">
                <a:solidFill>
                  <a:srgbClr val="2D2D2D"/>
                </a:solidFill>
              </a:defRPr>
            </a:pPr>
            <a:r>
              <a:t>   深度学习方法围绕单一任务设计</a:t>
            </a:r>
          </a:p>
          <a:p>
            <a:pPr>
              <a:spcAft>
                <a:spcPts val="600"/>
              </a:spcAft>
              <a:defRPr sz="1200">
                <a:solidFill>
                  <a:srgbClr val="2D2D2D"/>
                </a:solidFill>
              </a:defRPr>
            </a:pPr>
            <a:r>
              <a:t>   缺乏统一的多任务训练框架</a:t>
            </a:r>
          </a:p>
          <a:p>
            <a:pPr>
              <a:spcAft>
                <a:spcPts val="600"/>
              </a:spcAft>
              <a:defRPr sz="1200">
                <a:solidFill>
                  <a:srgbClr val="2D2D2D"/>
                </a:solidFill>
              </a:defRPr>
            </a:pPr>
          </a:p>
          <a:p>
            <a:pPr>
              <a:spcAft>
                <a:spcPts val="600"/>
              </a:spcAft>
              <a:defRPr sz="1200" b="1">
                <a:solidFill>
                  <a:srgbClr val="0072B2"/>
                </a:solidFill>
              </a:defRPr>
            </a:pPr>
            <a:r>
              <a:t>● 核心挑战</a:t>
            </a:r>
          </a:p>
          <a:p>
            <a:pPr>
              <a:spcAft>
                <a:spcPts val="600"/>
              </a:spcAft>
              <a:defRPr sz="1200">
                <a:solidFill>
                  <a:srgbClr val="2D2D2D"/>
                </a:solidFill>
              </a:defRPr>
            </a:pPr>
            <a:r>
              <a:t>   ① 数据源异构、量纲不同</a:t>
            </a:r>
          </a:p>
          <a:p>
            <a:pPr>
              <a:spcAft>
                <a:spcPts val="600"/>
              </a:spcAft>
              <a:defRPr sz="1200">
                <a:solidFill>
                  <a:srgbClr val="2D2D2D"/>
                </a:solidFill>
              </a:defRPr>
            </a:pPr>
            <a:r>
              <a:t>   ② 共享主干梯度方向冲突</a:t>
            </a:r>
          </a:p>
          <a:p>
            <a:pPr>
              <a:spcAft>
                <a:spcPts val="600"/>
              </a:spcAft>
              <a:defRPr sz="1200">
                <a:solidFill>
                  <a:srgbClr val="2D2D2D"/>
                </a:solidFill>
              </a:defRPr>
            </a:pPr>
            <a:r>
              <a:t>   ③ 简单 loss 加和效果不佳</a:t>
            </a:r>
          </a:p>
          <a:p>
            <a:pPr>
              <a:spcAft>
                <a:spcPts val="600"/>
              </a:spcAft>
              <a:defRPr sz="1200">
                <a:solidFill>
                  <a:srgbClr val="2D2D2D"/>
                </a:solidFill>
              </a:defRPr>
            </a:pPr>
          </a:p>
          <a:p>
            <a:pPr>
              <a:spcAft>
                <a:spcPts val="600"/>
              </a:spcAft>
              <a:defRPr sz="1200" b="1">
                <a:solidFill>
                  <a:srgbClr val="0072B2"/>
                </a:solidFill>
              </a:defRPr>
            </a:pPr>
            <a:r>
              <a:t>● 本文思路</a:t>
            </a:r>
          </a:p>
          <a:p>
            <a:pPr>
              <a:spcAft>
                <a:spcPts val="600"/>
              </a:spcAft>
              <a:defRPr sz="1200">
                <a:solidFill>
                  <a:srgbClr val="2D2D2D"/>
                </a:solidFill>
              </a:defRPr>
            </a:pPr>
            <a:r>
              <a:t>   "先学结构，后学物理"</a:t>
            </a:r>
          </a:p>
          <a:p>
            <a:pPr>
              <a:spcAft>
                <a:spcPts val="600"/>
              </a:spcAft>
              <a:defRPr sz="1200">
                <a:solidFill>
                  <a:srgbClr val="2D2D2D"/>
                </a:solidFill>
              </a:defRPr>
            </a:pPr>
            <a:r>
              <a:t>   → 预训练+微调两阶段框架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220000" y="1152000"/>
            <a:ext cx="3420000" cy="1080000"/>
          </a:xfrm>
          <a:prstGeom prst="roundRect">
            <a:avLst/>
          </a:prstGeom>
          <a:solidFill>
            <a:srgbClr val="E3EEF7"/>
          </a:solidFill>
          <a:ln w="19050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220000" y="1152000"/>
            <a:ext cx="144000" cy="1080000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71999" y="1260000"/>
            <a:ext cx="288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72B2"/>
                </a:solidFill>
              </a:defRPr>
            </a:pPr>
            <a:r>
              <a:t>亲和力预测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71999" y="1620000"/>
            <a:ext cx="30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66666"/>
                </a:solidFill>
              </a:defRPr>
            </a:pPr>
            <a:r>
              <a:t>Pafnucy · PIGNet</a:t>
            </a:r>
            <a:br/>
            <a:r>
              <a:t>TankBind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220000" y="2412000"/>
            <a:ext cx="3420000" cy="1080000"/>
          </a:xfrm>
          <a:prstGeom prst="roundRect">
            <a:avLst/>
          </a:prstGeom>
          <a:solidFill>
            <a:srgbClr val="FBF0DE"/>
          </a:solidFill>
          <a:ln w="19050">
            <a:solidFill>
              <a:srgbClr val="E6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220000" y="2412000"/>
            <a:ext cx="144000" cy="1080000"/>
          </a:xfrm>
          <a:prstGeom prst="rect">
            <a:avLst/>
          </a:prstGeom>
          <a:solidFill>
            <a:srgbClr val="E6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71999" y="2520000"/>
            <a:ext cx="288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69F00"/>
                </a:solidFill>
              </a:defRPr>
            </a:pPr>
            <a:r>
              <a:t>姿态排序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71999" y="2880000"/>
            <a:ext cx="30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66666"/>
                </a:solidFill>
              </a:defRPr>
            </a:pPr>
            <a:r>
              <a:t>DiffDock · GNINA</a:t>
            </a:r>
            <a:br/>
            <a:r>
              <a:t>EquiBind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220000" y="3672000"/>
            <a:ext cx="3420000" cy="1080000"/>
          </a:xfrm>
          <a:prstGeom prst="roundRect">
            <a:avLst/>
          </a:prstGeom>
          <a:solidFill>
            <a:srgbClr val="E8F2ED"/>
          </a:solidFill>
          <a:ln w="19050">
            <a:solidFill>
              <a:srgbClr val="009E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220000" y="3672000"/>
            <a:ext cx="144000" cy="1080000"/>
          </a:xfrm>
          <a:prstGeom prst="rect">
            <a:avLst/>
          </a:prstGeom>
          <a:solidFill>
            <a:srgbClr val="009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71999" y="3780000"/>
            <a:ext cx="288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9E73"/>
                </a:solidFill>
              </a:defRPr>
            </a:pPr>
            <a:r>
              <a:t>能量估计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71999" y="4140000"/>
            <a:ext cx="30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66666"/>
                </a:solidFill>
              </a:defRPr>
            </a:pPr>
            <a:r>
              <a:t>Vina 经验打分</a:t>
            </a:r>
            <a:br/>
            <a:r>
              <a:t>GOLD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20000" y="4824000"/>
            <a:ext cx="3420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D55E00"/>
                </a:solidFill>
              </a:defRPr>
            </a:pPr>
            <a:r>
              <a:t>↑ 各自独立，缺乏统一框架</a:t>
            </a:r>
          </a:p>
        </p:txBody>
      </p:sp>
      <p:sp>
        <p:nvSpPr>
          <p:cNvPr id="30" name="Down Arrow 29"/>
          <p:cNvSpPr/>
          <p:nvPr/>
        </p:nvSpPr>
        <p:spPr>
          <a:xfrm>
            <a:off x="6750000" y="5256000"/>
            <a:ext cx="360000" cy="360000"/>
          </a:xfrm>
          <a:prstGeom prst="downArrow">
            <a:avLst/>
          </a:prstGeom>
          <a:solidFill>
            <a:srgbClr val="003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580000" y="5652000"/>
            <a:ext cx="2700000" cy="432000"/>
          </a:xfrm>
          <a:prstGeom prst="roundRect">
            <a:avLst/>
          </a:prstGeom>
          <a:solidFill>
            <a:srgbClr val="003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580000" y="5652000"/>
            <a:ext cx="2700000" cy="432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InterMoBA-MTL 多任务统一框架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0000"/>
          </a:xfrm>
          <a:prstGeom prst="rect">
            <a:avLst/>
          </a:prstGeom>
          <a:solidFill>
            <a:srgbClr val="003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36000"/>
            <a:ext cx="840000" cy="306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00" b="0">
                <a:solidFill>
                  <a:srgbClr val="AACCE8"/>
                </a:solidFill>
              </a:defRPr>
            </a:pPr>
            <a:r>
              <a:t>背景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0000" y="36000"/>
            <a:ext cx="840000" cy="306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内容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80000" y="36000"/>
            <a:ext cx="840000" cy="306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00" b="0">
                <a:solidFill>
                  <a:srgbClr val="AACCE8"/>
                </a:solidFill>
              </a:defRPr>
            </a:pPr>
            <a:r>
              <a:t>架构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20000" y="36000"/>
            <a:ext cx="840000" cy="306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00" b="0">
                <a:solidFill>
                  <a:srgbClr val="AACCE8"/>
                </a:solidFill>
              </a:defRPr>
            </a:pPr>
            <a:r>
              <a:t>训练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60000" y="36000"/>
            <a:ext cx="840000" cy="306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00" b="0">
                <a:solidFill>
                  <a:srgbClr val="AACCE8"/>
                </a:solidFill>
              </a:defRPr>
            </a:pPr>
            <a:r>
              <a:t>能量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0000" y="36000"/>
            <a:ext cx="840000" cy="306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00" b="0">
                <a:solidFill>
                  <a:srgbClr val="AACCE8"/>
                </a:solidFill>
              </a:defRPr>
            </a:pPr>
            <a:r>
              <a:t>亲和力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40000" y="36000"/>
            <a:ext cx="840000" cy="306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00" b="0">
                <a:solidFill>
                  <a:srgbClr val="AACCE8"/>
                </a:solidFill>
              </a:defRPr>
            </a:pPr>
            <a:r>
              <a:t>姿态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80000" y="36000"/>
            <a:ext cx="840000" cy="306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00" b="0">
                <a:solidFill>
                  <a:srgbClr val="AACCE8"/>
                </a:solidFill>
              </a:defRPr>
            </a:pPr>
            <a:r>
              <a:t>可解释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0000" y="36000"/>
            <a:ext cx="840000" cy="306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00" b="0">
                <a:solidFill>
                  <a:srgbClr val="AACCE8"/>
                </a:solidFill>
              </a:defRPr>
            </a:pPr>
            <a:r>
              <a:t>总结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88000" y="0"/>
            <a:ext cx="1656000" cy="36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chool_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2000" y="45000"/>
            <a:ext cx="1368000" cy="270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0000" y="540000"/>
            <a:ext cx="79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3D87"/>
                </a:solidFill>
              </a:defRPr>
            </a:pPr>
            <a:r>
              <a:t>二、主要研究内容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00000" y="6408000"/>
            <a:ext cx="9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4/12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000" y="1260000"/>
            <a:ext cx="7560000" cy="46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D2D2D"/>
                </a:solidFill>
              </a:defRPr>
            </a:pPr>
            <a:r>
              <a:t>❶  Graph-Transformer 建模框架</a:t>
            </a:r>
          </a:p>
          <a:p>
            <a:pPr>
              <a:spcAft>
                <a:spcPts val="600"/>
              </a:spcAft>
              <a:defRPr sz="1400">
                <a:solidFill>
                  <a:srgbClr val="2D2D2D"/>
                </a:solidFill>
              </a:defRPr>
            </a:pPr>
            <a:r>
              <a:t>    基于 Interformer 共享主干，三类任务统一建模</a:t>
            </a:r>
          </a:p>
          <a:p>
            <a:pPr>
              <a:spcAft>
                <a:spcPts val="600"/>
              </a:spcAft>
              <a:defRPr sz="1400">
                <a:solidFill>
                  <a:srgbClr val="2D2D2D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2D2D2D"/>
                </a:solidFill>
              </a:defRPr>
            </a:pPr>
            <a:r>
              <a:t>❷  预训练—微调的两阶段训练策略</a:t>
            </a:r>
          </a:p>
          <a:p>
            <a:pPr>
              <a:spcAft>
                <a:spcPts val="600"/>
              </a:spcAft>
              <a:defRPr sz="1400">
                <a:solidFill>
                  <a:srgbClr val="2D2D2D"/>
                </a:solidFill>
              </a:defRPr>
            </a:pPr>
            <a:r>
              <a:t>    先冻结主干训练新任务头，再全参数联合优化</a:t>
            </a:r>
          </a:p>
          <a:p>
            <a:pPr>
              <a:spcAft>
                <a:spcPts val="600"/>
              </a:spcAft>
              <a:defRPr sz="1400">
                <a:solidFill>
                  <a:srgbClr val="2D2D2D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2D2D2D"/>
                </a:solidFill>
              </a:defRPr>
            </a:pPr>
            <a:r>
              <a:t>❸  双数据源交替训练与任务掩蔽</a:t>
            </a:r>
          </a:p>
          <a:p>
            <a:pPr>
              <a:spcAft>
                <a:spcPts val="600"/>
              </a:spcAft>
              <a:defRPr sz="1400">
                <a:solidFill>
                  <a:srgbClr val="2D2D2D"/>
                </a:solidFill>
              </a:defRPr>
            </a:pPr>
            <a:r>
              <a:t>    Energy 与 Affinity+Pose 异构数据源交替采样</a:t>
            </a:r>
          </a:p>
          <a:p>
            <a:pPr>
              <a:spcAft>
                <a:spcPts val="600"/>
              </a:spcAft>
              <a:defRPr sz="1400">
                <a:solidFill>
                  <a:srgbClr val="2D2D2D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2D2D2D"/>
                </a:solidFill>
              </a:defRPr>
            </a:pPr>
            <a:r>
              <a:t>❹  可解释能量建模与评测协议</a:t>
            </a:r>
          </a:p>
          <a:p>
            <a:pPr>
              <a:spcAft>
                <a:spcPts val="600"/>
              </a:spcAft>
              <a:defRPr sz="1400">
                <a:solidFill>
                  <a:srgbClr val="2D2D2D"/>
                </a:solidFill>
              </a:defRPr>
            </a:pPr>
            <a:r>
              <a:t>    四分量高斯能量分解 + RMSD/Pearson/AUROC 评测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0000"/>
          </a:xfrm>
          <a:prstGeom prst="rect">
            <a:avLst/>
          </a:prstGeom>
          <a:solidFill>
            <a:srgbClr val="003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36000"/>
            <a:ext cx="840000" cy="306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00" b="0">
                <a:solidFill>
                  <a:srgbClr val="AACCE8"/>
                </a:solidFill>
              </a:defRPr>
            </a:pPr>
            <a:r>
              <a:t>背景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0000" y="36000"/>
            <a:ext cx="840000" cy="306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00" b="0">
                <a:solidFill>
                  <a:srgbClr val="AACCE8"/>
                </a:solidFill>
              </a:defRPr>
            </a:pPr>
            <a:r>
              <a:t>内容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80000" y="36000"/>
            <a:ext cx="840000" cy="306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架构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20000" y="36000"/>
            <a:ext cx="840000" cy="306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00" b="0">
                <a:solidFill>
                  <a:srgbClr val="AACCE8"/>
                </a:solidFill>
              </a:defRPr>
            </a:pPr>
            <a:r>
              <a:t>训练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60000" y="36000"/>
            <a:ext cx="840000" cy="306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00" b="0">
                <a:solidFill>
                  <a:srgbClr val="AACCE8"/>
                </a:solidFill>
              </a:defRPr>
            </a:pPr>
            <a:r>
              <a:t>能量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0000" y="36000"/>
            <a:ext cx="840000" cy="306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00" b="0">
                <a:solidFill>
                  <a:srgbClr val="AACCE8"/>
                </a:solidFill>
              </a:defRPr>
            </a:pPr>
            <a:r>
              <a:t>亲和力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40000" y="36000"/>
            <a:ext cx="840000" cy="306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00" b="0">
                <a:solidFill>
                  <a:srgbClr val="AACCE8"/>
                </a:solidFill>
              </a:defRPr>
            </a:pPr>
            <a:r>
              <a:t>姿态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80000" y="36000"/>
            <a:ext cx="840000" cy="306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00" b="0">
                <a:solidFill>
                  <a:srgbClr val="AACCE8"/>
                </a:solidFill>
              </a:defRPr>
            </a:pPr>
            <a:r>
              <a:t>可解释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0000" y="36000"/>
            <a:ext cx="840000" cy="306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00" b="0">
                <a:solidFill>
                  <a:srgbClr val="AACCE8"/>
                </a:solidFill>
              </a:defRPr>
            </a:pPr>
            <a:r>
              <a:t>总结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88000" y="0"/>
            <a:ext cx="1656000" cy="36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chool_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2000" y="45000"/>
            <a:ext cx="1368000" cy="270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0000" y="540000"/>
            <a:ext cx="79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3D87"/>
                </a:solidFill>
              </a:defRPr>
            </a:pPr>
            <a:r>
              <a:t>三、InterMoBA-MTL 系统架构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00000" y="6408000"/>
            <a:ext cx="9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5/12</a:t>
            </a:r>
          </a:p>
        </p:txBody>
      </p:sp>
      <p:pic>
        <p:nvPicPr>
          <p:cNvPr id="16" name="Picture 15" descr="system_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8019" y="1152000"/>
            <a:ext cx="6547961" cy="5220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0000"/>
          </a:xfrm>
          <a:prstGeom prst="rect">
            <a:avLst/>
          </a:prstGeom>
          <a:solidFill>
            <a:srgbClr val="003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36000"/>
            <a:ext cx="840000" cy="306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00" b="0">
                <a:solidFill>
                  <a:srgbClr val="AACCE8"/>
                </a:solidFill>
              </a:defRPr>
            </a:pPr>
            <a:r>
              <a:t>背景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0000" y="36000"/>
            <a:ext cx="840000" cy="306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00" b="0">
                <a:solidFill>
                  <a:srgbClr val="AACCE8"/>
                </a:solidFill>
              </a:defRPr>
            </a:pPr>
            <a:r>
              <a:t>内容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80000" y="36000"/>
            <a:ext cx="840000" cy="306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00" b="0">
                <a:solidFill>
                  <a:srgbClr val="AACCE8"/>
                </a:solidFill>
              </a:defRPr>
            </a:pPr>
            <a:r>
              <a:t>架构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20000" y="36000"/>
            <a:ext cx="840000" cy="306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训练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60000" y="36000"/>
            <a:ext cx="840000" cy="306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00" b="0">
                <a:solidFill>
                  <a:srgbClr val="AACCE8"/>
                </a:solidFill>
              </a:defRPr>
            </a:pPr>
            <a:r>
              <a:t>能量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0000" y="36000"/>
            <a:ext cx="840000" cy="306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00" b="0">
                <a:solidFill>
                  <a:srgbClr val="AACCE8"/>
                </a:solidFill>
              </a:defRPr>
            </a:pPr>
            <a:r>
              <a:t>亲和力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40000" y="36000"/>
            <a:ext cx="840000" cy="306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00" b="0">
                <a:solidFill>
                  <a:srgbClr val="AACCE8"/>
                </a:solidFill>
              </a:defRPr>
            </a:pPr>
            <a:r>
              <a:t>姿态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80000" y="36000"/>
            <a:ext cx="840000" cy="306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00" b="0">
                <a:solidFill>
                  <a:srgbClr val="AACCE8"/>
                </a:solidFill>
              </a:defRPr>
            </a:pPr>
            <a:r>
              <a:t>可解释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0000" y="36000"/>
            <a:ext cx="840000" cy="306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00" b="0">
                <a:solidFill>
                  <a:srgbClr val="AACCE8"/>
                </a:solidFill>
              </a:defRPr>
            </a:pPr>
            <a:r>
              <a:t>总结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88000" y="0"/>
            <a:ext cx="1656000" cy="36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chool_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2000" y="45000"/>
            <a:ext cx="1368000" cy="270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0000" y="540000"/>
            <a:ext cx="79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3D87"/>
                </a:solidFill>
              </a:defRPr>
            </a:pPr>
            <a:r>
              <a:t>四、两阶段训练策略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00000" y="6408000"/>
            <a:ext cx="9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6/12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000" y="1260000"/>
            <a:ext cx="7560000" cy="46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D2D2D"/>
                </a:solidFill>
              </a:defRPr>
            </a:pPr>
            <a:r>
              <a:t>阶段一：预训练（Interformer 权重初始化）</a:t>
            </a:r>
          </a:p>
          <a:p>
            <a:pPr>
              <a:spcAft>
                <a:spcPts val="600"/>
              </a:spcAft>
              <a:defRPr sz="1300">
                <a:solidFill>
                  <a:srgbClr val="2D2D2D"/>
                </a:solidFill>
              </a:defRPr>
            </a:pPr>
            <a:r>
              <a:t>   • 亲和力回归 + 姿态选择</a:t>
            </a:r>
          </a:p>
          <a:p>
            <a:pPr>
              <a:spcAft>
                <a:spcPts val="600"/>
              </a:spcAft>
              <a:defRPr sz="1300">
                <a:solidFill>
                  <a:srgbClr val="2D2D2D"/>
                </a:solidFill>
              </a:defRPr>
            </a:pPr>
            <a:r>
              <a:t>   • 学习稳定的蛋白-配体交互表征</a:t>
            </a:r>
          </a:p>
          <a:p>
            <a:pPr>
              <a:spcAft>
                <a:spcPts val="600"/>
              </a:spcAft>
              <a:defRPr sz="1300">
                <a:solidFill>
                  <a:srgbClr val="2D2D2D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2D2D2D"/>
                </a:solidFill>
              </a:defRPr>
            </a:pPr>
            <a:r>
              <a:t>阶段二：多任务微调</a:t>
            </a:r>
          </a:p>
          <a:p>
            <a:pPr>
              <a:spcAft>
                <a:spcPts val="600"/>
              </a:spcAft>
              <a:defRPr sz="1300">
                <a:solidFill>
                  <a:srgbClr val="2D2D2D"/>
                </a:solidFill>
              </a:defRPr>
            </a:pPr>
            <a:r>
              <a:t>   • 引入能量监督（Vina 四分量）</a:t>
            </a:r>
          </a:p>
          <a:p>
            <a:pPr>
              <a:spcAft>
                <a:spcPts val="600"/>
              </a:spcAft>
              <a:defRPr sz="1300">
                <a:solidFill>
                  <a:srgbClr val="2D2D2D"/>
                </a:solidFill>
              </a:defRPr>
            </a:pPr>
            <a:r>
              <a:t>   • 前 5 epoch 冻结编码器，只训练新任务头</a:t>
            </a:r>
          </a:p>
          <a:p>
            <a:pPr>
              <a:spcAft>
                <a:spcPts val="600"/>
              </a:spcAft>
              <a:defRPr sz="1300">
                <a:solidFill>
                  <a:srgbClr val="2D2D2D"/>
                </a:solidFill>
              </a:defRPr>
            </a:pPr>
            <a:r>
              <a:t>   • 之后全参数联合优化</a:t>
            </a:r>
          </a:p>
          <a:p>
            <a:pPr>
              <a:spcAft>
                <a:spcPts val="600"/>
              </a:spcAft>
              <a:defRPr sz="1300">
                <a:solidFill>
                  <a:srgbClr val="2D2D2D"/>
                </a:solidFill>
              </a:defRPr>
            </a:pPr>
            <a:r>
              <a:t>   • 双数据源交替采样（energy 比例 p=0.3）</a:t>
            </a:r>
          </a:p>
          <a:p>
            <a:pPr>
              <a:spcAft>
                <a:spcPts val="600"/>
              </a:spcAft>
              <a:defRPr sz="1300">
                <a:solidFill>
                  <a:srgbClr val="2D2D2D"/>
                </a:solidFill>
              </a:defRPr>
            </a:pPr>
          </a:p>
          <a:p>
            <a:pPr>
              <a:spcAft>
                <a:spcPts val="600"/>
              </a:spcAft>
              <a:defRPr sz="1300" b="1">
                <a:solidFill>
                  <a:srgbClr val="0072B2"/>
                </a:solidFill>
              </a:defRPr>
            </a:pPr>
            <a:r>
              <a:t>★ 关键效果：</a:t>
            </a:r>
          </a:p>
          <a:p>
            <a:pPr>
              <a:spcAft>
                <a:spcPts val="600"/>
              </a:spcAft>
              <a:defRPr sz="1300">
                <a:solidFill>
                  <a:srgbClr val="2D2D2D"/>
                </a:solidFill>
              </a:defRPr>
            </a:pPr>
            <a:r>
              <a:t>   • 预训练权重加载率 94.6%</a:t>
            </a:r>
          </a:p>
          <a:p>
            <a:pPr>
              <a:spcAft>
                <a:spcPts val="600"/>
              </a:spcAft>
              <a:defRPr sz="1300">
                <a:solidFill>
                  <a:srgbClr val="2D2D2D"/>
                </a:solidFill>
              </a:defRPr>
            </a:pPr>
            <a:r>
              <a:t>   • val_pose_sel: 0.50 → 0.801（epoch 0）</a:t>
            </a:r>
          </a:p>
          <a:p>
            <a:pPr>
              <a:spcAft>
                <a:spcPts val="600"/>
              </a:spcAft>
              <a:defRPr sz="1300">
                <a:solidFill>
                  <a:srgbClr val="2D2D2D"/>
                </a:solidFill>
              </a:defRPr>
            </a:pPr>
            <a:r>
              <a:t>   • 多任务增益：亲和力 R 从 0.692 提升到 0.737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0000"/>
          </a:xfrm>
          <a:prstGeom prst="rect">
            <a:avLst/>
          </a:prstGeom>
          <a:solidFill>
            <a:srgbClr val="003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36000"/>
            <a:ext cx="840000" cy="306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00" b="0">
                <a:solidFill>
                  <a:srgbClr val="AACCE8"/>
                </a:solidFill>
              </a:defRPr>
            </a:pPr>
            <a:r>
              <a:t>背景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0000" y="36000"/>
            <a:ext cx="840000" cy="306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00" b="0">
                <a:solidFill>
                  <a:srgbClr val="AACCE8"/>
                </a:solidFill>
              </a:defRPr>
            </a:pPr>
            <a:r>
              <a:t>内容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80000" y="36000"/>
            <a:ext cx="840000" cy="306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00" b="0">
                <a:solidFill>
                  <a:srgbClr val="AACCE8"/>
                </a:solidFill>
              </a:defRPr>
            </a:pPr>
            <a:r>
              <a:t>架构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20000" y="36000"/>
            <a:ext cx="840000" cy="306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00" b="0">
                <a:solidFill>
                  <a:srgbClr val="AACCE8"/>
                </a:solidFill>
              </a:defRPr>
            </a:pPr>
            <a:r>
              <a:t>训练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60000" y="36000"/>
            <a:ext cx="840000" cy="306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能量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0000" y="36000"/>
            <a:ext cx="840000" cy="306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00" b="0">
                <a:solidFill>
                  <a:srgbClr val="AACCE8"/>
                </a:solidFill>
              </a:defRPr>
            </a:pPr>
            <a:r>
              <a:t>亲和力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40000" y="36000"/>
            <a:ext cx="840000" cy="306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00" b="0">
                <a:solidFill>
                  <a:srgbClr val="AACCE8"/>
                </a:solidFill>
              </a:defRPr>
            </a:pPr>
            <a:r>
              <a:t>姿态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80000" y="36000"/>
            <a:ext cx="840000" cy="306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00" b="0">
                <a:solidFill>
                  <a:srgbClr val="AACCE8"/>
                </a:solidFill>
              </a:defRPr>
            </a:pPr>
            <a:r>
              <a:t>可解释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0000" y="36000"/>
            <a:ext cx="840000" cy="306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00" b="0">
                <a:solidFill>
                  <a:srgbClr val="AACCE8"/>
                </a:solidFill>
              </a:defRPr>
            </a:pPr>
            <a:r>
              <a:t>总结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88000" y="0"/>
            <a:ext cx="1656000" cy="36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chool_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2000" y="45000"/>
            <a:ext cx="1368000" cy="270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0000" y="540000"/>
            <a:ext cx="79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3D87"/>
                </a:solidFill>
              </a:defRPr>
            </a:pPr>
            <a:r>
              <a:t>五、可解释能量建模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00000" y="6408000"/>
            <a:ext cx="9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7/12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0000" y="1260000"/>
            <a:ext cx="3600000" cy="46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2D2D2D"/>
                </a:solidFill>
              </a:defRPr>
            </a:pPr>
            <a:r>
              <a:t>四分量高斯混合距离头：</a:t>
            </a:r>
          </a:p>
          <a:p>
            <a:pPr>
              <a:spcAft>
                <a:spcPts val="600"/>
              </a:spcAft>
              <a:defRPr sz="1200">
                <a:solidFill>
                  <a:srgbClr val="2D2D2D"/>
                </a:solidFill>
              </a:defRPr>
            </a:pPr>
            <a:r>
              <a:t>  • vdW 吸引（全对开放）</a:t>
            </a:r>
          </a:p>
          <a:p>
            <a:pPr>
              <a:spcAft>
                <a:spcPts val="600"/>
              </a:spcAft>
              <a:defRPr sz="1200">
                <a:solidFill>
                  <a:srgbClr val="2D2D2D"/>
                </a:solidFill>
              </a:defRPr>
            </a:pPr>
            <a:r>
              <a:t>  • vdW 排斥（全对开放）</a:t>
            </a:r>
          </a:p>
          <a:p>
            <a:pPr>
              <a:spcAft>
                <a:spcPts val="600"/>
              </a:spcAft>
              <a:defRPr sz="1200">
                <a:solidFill>
                  <a:srgbClr val="2D2D2D"/>
                </a:solidFill>
              </a:defRPr>
            </a:pPr>
            <a:r>
              <a:t>  • 疏水作用（非极性门控）</a:t>
            </a:r>
          </a:p>
          <a:p>
            <a:pPr>
              <a:spcAft>
                <a:spcPts val="600"/>
              </a:spcAft>
              <a:defRPr sz="1200">
                <a:solidFill>
                  <a:srgbClr val="2D2D2D"/>
                </a:solidFill>
              </a:defRPr>
            </a:pPr>
            <a:r>
              <a:t>  • 氢键（供受体门控）</a:t>
            </a:r>
          </a:p>
          <a:p>
            <a:pPr>
              <a:spcAft>
                <a:spcPts val="600"/>
              </a:spcAft>
              <a:defRPr sz="1200">
                <a:solidFill>
                  <a:srgbClr val="2D2D2D"/>
                </a:solidFill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2D2D2D"/>
                </a:solidFill>
              </a:defRPr>
            </a:pPr>
            <a:r>
              <a:t>设计要点：</a:t>
            </a:r>
          </a:p>
          <a:p>
            <a:pPr>
              <a:spcAft>
                <a:spcPts val="600"/>
              </a:spcAft>
              <a:defRPr sz="1200">
                <a:solidFill>
                  <a:srgbClr val="2D2D2D"/>
                </a:solidFill>
              </a:defRPr>
            </a:pPr>
            <a:r>
              <a:t>  • 原子对类型掩蔽</a:t>
            </a:r>
          </a:p>
          <a:p>
            <a:pPr>
              <a:spcAft>
                <a:spcPts val="600"/>
              </a:spcAft>
              <a:defRPr sz="1200">
                <a:solidFill>
                  <a:srgbClr val="2D2D2D"/>
                </a:solidFill>
              </a:defRPr>
            </a:pPr>
            <a:r>
              <a:t>  • 几何约束+碰撞检测</a:t>
            </a:r>
          </a:p>
          <a:p>
            <a:pPr>
              <a:spcAft>
                <a:spcPts val="600"/>
              </a:spcAft>
              <a:defRPr sz="1200">
                <a:solidFill>
                  <a:srgbClr val="2D2D2D"/>
                </a:solidFill>
              </a:defRPr>
            </a:pPr>
            <a:r>
              <a:t>  • 原子对级可解释输出</a:t>
            </a:r>
          </a:p>
        </p:txBody>
      </p:sp>
      <p:pic>
        <p:nvPicPr>
          <p:cNvPr id="17" name="Picture 16" descr="gaussian_compone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0000" y="1260000"/>
            <a:ext cx="4680000" cy="275671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0000"/>
          </a:xfrm>
          <a:prstGeom prst="rect">
            <a:avLst/>
          </a:prstGeom>
          <a:solidFill>
            <a:srgbClr val="003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36000"/>
            <a:ext cx="840000" cy="306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00" b="0">
                <a:solidFill>
                  <a:srgbClr val="AACCE8"/>
                </a:solidFill>
              </a:defRPr>
            </a:pPr>
            <a:r>
              <a:t>背景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0000" y="36000"/>
            <a:ext cx="840000" cy="306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00" b="0">
                <a:solidFill>
                  <a:srgbClr val="AACCE8"/>
                </a:solidFill>
              </a:defRPr>
            </a:pPr>
            <a:r>
              <a:t>内容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80000" y="36000"/>
            <a:ext cx="840000" cy="306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00" b="0">
                <a:solidFill>
                  <a:srgbClr val="AACCE8"/>
                </a:solidFill>
              </a:defRPr>
            </a:pPr>
            <a:r>
              <a:t>架构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20000" y="36000"/>
            <a:ext cx="840000" cy="306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00" b="0">
                <a:solidFill>
                  <a:srgbClr val="AACCE8"/>
                </a:solidFill>
              </a:defRPr>
            </a:pPr>
            <a:r>
              <a:t>训练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60000" y="36000"/>
            <a:ext cx="840000" cy="306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00" b="0">
                <a:solidFill>
                  <a:srgbClr val="AACCE8"/>
                </a:solidFill>
              </a:defRPr>
            </a:pPr>
            <a:r>
              <a:t>能量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0000" y="36000"/>
            <a:ext cx="840000" cy="306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亲和力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40000" y="36000"/>
            <a:ext cx="840000" cy="306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00" b="0">
                <a:solidFill>
                  <a:srgbClr val="AACCE8"/>
                </a:solidFill>
              </a:defRPr>
            </a:pPr>
            <a:r>
              <a:t>姿态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80000" y="36000"/>
            <a:ext cx="840000" cy="306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00" b="0">
                <a:solidFill>
                  <a:srgbClr val="AACCE8"/>
                </a:solidFill>
              </a:defRPr>
            </a:pPr>
            <a:r>
              <a:t>可解释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0000" y="36000"/>
            <a:ext cx="840000" cy="306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00" b="0">
                <a:solidFill>
                  <a:srgbClr val="AACCE8"/>
                </a:solidFill>
              </a:defRPr>
            </a:pPr>
            <a:r>
              <a:t>总结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88000" y="0"/>
            <a:ext cx="1656000" cy="36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chool_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2000" y="45000"/>
            <a:ext cx="1368000" cy="270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0000" y="540000"/>
            <a:ext cx="79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3D87"/>
                </a:solidFill>
              </a:defRPr>
            </a:pPr>
            <a:r>
              <a:t>六、实验结果 — 亲和力预测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00000" y="6408000"/>
            <a:ext cx="9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8/12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000" y="1080000"/>
            <a:ext cx="7560000" cy="46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D2D2D"/>
                </a:solidFill>
              </a:defRPr>
            </a:pPr>
            <a:r>
              <a:t>PDBbind 2020 time-split 测试集（341 targets）</a:t>
            </a:r>
          </a:p>
          <a:p>
            <a:pPr>
              <a:spcAft>
                <a:spcPts val="600"/>
              </a:spcAft>
              <a:defRPr sz="1300">
                <a:solidFill>
                  <a:srgbClr val="2D2D2D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2D2D2D"/>
                </a:solidFill>
              </a:defRPr>
            </a:pPr>
            <a:r>
              <a:t>  模型                         Pearson R    RMSE</a:t>
            </a:r>
          </a:p>
          <a:p>
            <a:pPr>
              <a:spcAft>
                <a:spcPts val="600"/>
              </a:spcAft>
              <a:defRPr sz="1300">
                <a:solidFill>
                  <a:srgbClr val="2D2D2D"/>
                </a:solidFill>
              </a:defRPr>
            </a:pPr>
            <a:r>
              <a:t>  ─────────────────────────────────────────</a:t>
            </a:r>
          </a:p>
          <a:p>
            <a:pPr>
              <a:spcAft>
                <a:spcPts val="600"/>
              </a:spcAft>
              <a:defRPr sz="1300">
                <a:solidFill>
                  <a:srgbClr val="2D2D2D"/>
                </a:solidFill>
              </a:defRPr>
            </a:pPr>
            <a:r>
              <a:t>  Interformer (单模型)            0.692      1.37</a:t>
            </a:r>
          </a:p>
          <a:p>
            <a:pPr>
              <a:spcAft>
                <a:spcPts val="600"/>
              </a:spcAft>
              <a:defRPr sz="1300">
                <a:solidFill>
                  <a:srgbClr val="2D2D2D"/>
                </a:solidFill>
              </a:defRPr>
            </a:pPr>
            <a:r>
              <a:t>  Interformer (4模型集成)         0.702      1.33</a:t>
            </a:r>
          </a:p>
          <a:p>
            <a:pPr>
              <a:spcAft>
                <a:spcPts val="600"/>
              </a:spcAft>
              <a:defRPr sz="1300" b="1">
                <a:solidFill>
                  <a:srgbClr val="0072B2"/>
                </a:solidFill>
              </a:defRPr>
            </a:pPr>
            <a:r>
              <a:t>★ InterMoBA-MTL (单模型)         0.737      1.27</a:t>
            </a:r>
          </a:p>
          <a:p>
            <a:pPr>
              <a:spcAft>
                <a:spcPts val="600"/>
              </a:spcAft>
              <a:defRPr sz="1300">
                <a:solidFill>
                  <a:srgbClr val="2D2D2D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2D2D2D"/>
                </a:solidFill>
              </a:defRPr>
            </a:pPr>
            <a:r>
              <a:t>  → 单模型超越 4 模型集成，提升 5.0%</a:t>
            </a:r>
          </a:p>
        </p:txBody>
      </p:sp>
      <p:pic>
        <p:nvPicPr>
          <p:cNvPr id="17" name="Picture 16" descr="affinity_scatter_thesi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7904" y="3780000"/>
            <a:ext cx="5728192" cy="2700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0000"/>
          </a:xfrm>
          <a:prstGeom prst="rect">
            <a:avLst/>
          </a:prstGeom>
          <a:solidFill>
            <a:srgbClr val="003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36000"/>
            <a:ext cx="840000" cy="306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00" b="0">
                <a:solidFill>
                  <a:srgbClr val="AACCE8"/>
                </a:solidFill>
              </a:defRPr>
            </a:pPr>
            <a:r>
              <a:t>背景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0000" y="36000"/>
            <a:ext cx="840000" cy="306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00" b="0">
                <a:solidFill>
                  <a:srgbClr val="AACCE8"/>
                </a:solidFill>
              </a:defRPr>
            </a:pPr>
            <a:r>
              <a:t>内容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80000" y="36000"/>
            <a:ext cx="840000" cy="306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00" b="0">
                <a:solidFill>
                  <a:srgbClr val="AACCE8"/>
                </a:solidFill>
              </a:defRPr>
            </a:pPr>
            <a:r>
              <a:t>架构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20000" y="36000"/>
            <a:ext cx="840000" cy="306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00" b="0">
                <a:solidFill>
                  <a:srgbClr val="AACCE8"/>
                </a:solidFill>
              </a:defRPr>
            </a:pPr>
            <a:r>
              <a:t>训练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60000" y="36000"/>
            <a:ext cx="840000" cy="306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00" b="0">
                <a:solidFill>
                  <a:srgbClr val="AACCE8"/>
                </a:solidFill>
              </a:defRPr>
            </a:pPr>
            <a:r>
              <a:t>能量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0000" y="36000"/>
            <a:ext cx="840000" cy="306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00" b="0">
                <a:solidFill>
                  <a:srgbClr val="AACCE8"/>
                </a:solidFill>
              </a:defRPr>
            </a:pPr>
            <a:r>
              <a:t>亲和力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40000" y="36000"/>
            <a:ext cx="840000" cy="306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姿态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80000" y="36000"/>
            <a:ext cx="840000" cy="306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00" b="0">
                <a:solidFill>
                  <a:srgbClr val="AACCE8"/>
                </a:solidFill>
              </a:defRPr>
            </a:pPr>
            <a:r>
              <a:t>可解释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0000" y="36000"/>
            <a:ext cx="840000" cy="306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00" b="0">
                <a:solidFill>
                  <a:srgbClr val="AACCE8"/>
                </a:solidFill>
              </a:defRPr>
            </a:pPr>
            <a:r>
              <a:t>总结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88000" y="0"/>
            <a:ext cx="1656000" cy="36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chool_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2000" y="45000"/>
            <a:ext cx="1368000" cy="270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0000" y="540000"/>
            <a:ext cx="79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3D87"/>
                </a:solidFill>
              </a:defRPr>
            </a:pPr>
            <a:r>
              <a:t>七、姿态选择 &amp; PoseBusters 独立验证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00000" y="6408000"/>
            <a:ext cx="9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9/12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000" y="1080000"/>
            <a:ext cx="7560000" cy="46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D2D2D"/>
                </a:solidFill>
              </a:defRPr>
            </a:pPr>
            <a:r>
              <a:t>姿态选择（7161 poses, RMSD&lt;2Å 为正）</a:t>
            </a:r>
          </a:p>
          <a:p>
            <a:pPr>
              <a:spcAft>
                <a:spcPts val="600"/>
              </a:spcAft>
              <a:defRPr sz="1300">
                <a:solidFill>
                  <a:srgbClr val="2D2D2D"/>
                </a:solidFill>
              </a:defRPr>
            </a:pPr>
            <a:r>
              <a:t>  • Interformer 集成: AUROC 0.938, Top-1 87.39%</a:t>
            </a:r>
          </a:p>
          <a:p>
            <a:pPr>
              <a:spcAft>
                <a:spcPts val="600"/>
              </a:spcAft>
              <a:defRPr sz="1300" b="1">
                <a:solidFill>
                  <a:srgbClr val="0072B2"/>
                </a:solidFill>
              </a:defRPr>
            </a:pPr>
            <a:r>
              <a:t>★ InterMoBA-MTL:     AUROC 0.924, Top-1 88.56%</a:t>
            </a:r>
          </a:p>
          <a:p>
            <a:pPr>
              <a:spcAft>
                <a:spcPts val="600"/>
              </a:spcAft>
              <a:defRPr sz="1300">
                <a:solidFill>
                  <a:srgbClr val="2D2D2D"/>
                </a:solidFill>
              </a:defRPr>
            </a:pPr>
            <a:r>
              <a:t>  → 单模型 Top-1 超越 4 模型集成</a:t>
            </a:r>
          </a:p>
        </p:txBody>
      </p:sp>
      <p:pic>
        <p:nvPicPr>
          <p:cNvPr id="17" name="Picture 16" descr="posebuster_benchmark_v2_na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9692" y="2700000"/>
            <a:ext cx="5884615" cy="3600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0000"/>
          </a:xfrm>
          <a:prstGeom prst="rect">
            <a:avLst/>
          </a:prstGeom>
          <a:solidFill>
            <a:srgbClr val="003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36000"/>
            <a:ext cx="840000" cy="306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00" b="0">
                <a:solidFill>
                  <a:srgbClr val="AACCE8"/>
                </a:solidFill>
              </a:defRPr>
            </a:pPr>
            <a:r>
              <a:t>背景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0000" y="36000"/>
            <a:ext cx="840000" cy="306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00" b="0">
                <a:solidFill>
                  <a:srgbClr val="AACCE8"/>
                </a:solidFill>
              </a:defRPr>
            </a:pPr>
            <a:r>
              <a:t>内容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80000" y="36000"/>
            <a:ext cx="840000" cy="306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00" b="0">
                <a:solidFill>
                  <a:srgbClr val="AACCE8"/>
                </a:solidFill>
              </a:defRPr>
            </a:pPr>
            <a:r>
              <a:t>架构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20000" y="36000"/>
            <a:ext cx="840000" cy="306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00" b="0">
                <a:solidFill>
                  <a:srgbClr val="AACCE8"/>
                </a:solidFill>
              </a:defRPr>
            </a:pPr>
            <a:r>
              <a:t>训练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60000" y="36000"/>
            <a:ext cx="840000" cy="306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00" b="0">
                <a:solidFill>
                  <a:srgbClr val="AACCE8"/>
                </a:solidFill>
              </a:defRPr>
            </a:pPr>
            <a:r>
              <a:t>能量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0000" y="36000"/>
            <a:ext cx="840000" cy="306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00" b="0">
                <a:solidFill>
                  <a:srgbClr val="AACCE8"/>
                </a:solidFill>
              </a:defRPr>
            </a:pPr>
            <a:r>
              <a:t>亲和力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40000" y="36000"/>
            <a:ext cx="840000" cy="306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00" b="0">
                <a:solidFill>
                  <a:srgbClr val="AACCE8"/>
                </a:solidFill>
              </a:defRPr>
            </a:pPr>
            <a:r>
              <a:t>姿态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80000" y="36000"/>
            <a:ext cx="840000" cy="306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可解释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0000" y="36000"/>
            <a:ext cx="840000" cy="306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00" b="0">
                <a:solidFill>
                  <a:srgbClr val="AACCE8"/>
                </a:solidFill>
              </a:defRPr>
            </a:pPr>
            <a:r>
              <a:t>总结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88000" y="0"/>
            <a:ext cx="1656000" cy="36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chool_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2000" y="45000"/>
            <a:ext cx="1368000" cy="270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0000" y="540000"/>
            <a:ext cx="79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3D87"/>
                </a:solidFill>
              </a:defRPr>
            </a:pPr>
            <a:r>
              <a:t>八、可解释性 — 相互作用恢复分析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00000" y="6408000"/>
            <a:ext cx="9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10/12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000" y="1080000"/>
            <a:ext cx="7560000" cy="46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D2D2D"/>
                </a:solidFill>
              </a:defRPr>
            </a:pPr>
            <a:r>
              <a:t>PLIP 工具验证预测构象的相互作用恢复率</a:t>
            </a:r>
          </a:p>
          <a:p>
            <a:pPr>
              <a:spcAft>
                <a:spcPts val="600"/>
              </a:spcAft>
              <a:defRPr sz="1300">
                <a:solidFill>
                  <a:srgbClr val="2D2D2D"/>
                </a:solidFill>
              </a:defRPr>
            </a:pPr>
          </a:p>
          <a:p>
            <a:pPr>
              <a:spcAft>
                <a:spcPts val="600"/>
              </a:spcAft>
              <a:defRPr sz="1300" b="1">
                <a:solidFill>
                  <a:srgbClr val="0072B2"/>
                </a:solidFill>
              </a:defRPr>
            </a:pPr>
            <a:r>
              <a:t>★ InterMoBA-MTL: 氢键 79.3%, 疏水 79.9%</a:t>
            </a:r>
          </a:p>
          <a:p>
            <a:pPr>
              <a:spcAft>
                <a:spcPts val="600"/>
              </a:spcAft>
              <a:defRPr sz="1300">
                <a:solidFill>
                  <a:srgbClr val="2D2D2D"/>
                </a:solidFill>
              </a:defRPr>
            </a:pPr>
            <a:r>
              <a:t>   vs Interformer: 氢键 50.2%, 疏水 38.5%</a:t>
            </a:r>
          </a:p>
          <a:p>
            <a:pPr>
              <a:spcAft>
                <a:spcPts val="600"/>
              </a:spcAft>
              <a:defRPr sz="1300">
                <a:solidFill>
                  <a:srgbClr val="2D2D2D"/>
                </a:solidFill>
              </a:defRPr>
            </a:pPr>
            <a:r>
              <a:t>   → 能量监督 + 多任务联合训练显著提升局部交互敏感度</a:t>
            </a:r>
          </a:p>
        </p:txBody>
      </p:sp>
      <p:pic>
        <p:nvPicPr>
          <p:cNvPr id="17" name="Picture 16" descr="interaction_recovery_hi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000" y="3060000"/>
            <a:ext cx="7200000" cy="322758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0000"/>
          </a:xfrm>
          <a:prstGeom prst="rect">
            <a:avLst/>
          </a:prstGeom>
          <a:solidFill>
            <a:srgbClr val="003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36000"/>
            <a:ext cx="840000" cy="306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00" b="0">
                <a:solidFill>
                  <a:srgbClr val="AACCE8"/>
                </a:solidFill>
              </a:defRPr>
            </a:pPr>
            <a:r>
              <a:t>背景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0000" y="36000"/>
            <a:ext cx="840000" cy="306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00" b="0">
                <a:solidFill>
                  <a:srgbClr val="AACCE8"/>
                </a:solidFill>
              </a:defRPr>
            </a:pPr>
            <a:r>
              <a:t>内容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80000" y="36000"/>
            <a:ext cx="840000" cy="306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00" b="0">
                <a:solidFill>
                  <a:srgbClr val="AACCE8"/>
                </a:solidFill>
              </a:defRPr>
            </a:pPr>
            <a:r>
              <a:t>架构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20000" y="36000"/>
            <a:ext cx="840000" cy="306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00" b="0">
                <a:solidFill>
                  <a:srgbClr val="AACCE8"/>
                </a:solidFill>
              </a:defRPr>
            </a:pPr>
            <a:r>
              <a:t>训练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60000" y="36000"/>
            <a:ext cx="840000" cy="306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00" b="0">
                <a:solidFill>
                  <a:srgbClr val="AACCE8"/>
                </a:solidFill>
              </a:defRPr>
            </a:pPr>
            <a:r>
              <a:t>能量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0000" y="36000"/>
            <a:ext cx="840000" cy="306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00" b="0">
                <a:solidFill>
                  <a:srgbClr val="AACCE8"/>
                </a:solidFill>
              </a:defRPr>
            </a:pPr>
            <a:r>
              <a:t>亲和力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40000" y="36000"/>
            <a:ext cx="840000" cy="306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00" b="0">
                <a:solidFill>
                  <a:srgbClr val="AACCE8"/>
                </a:solidFill>
              </a:defRPr>
            </a:pPr>
            <a:r>
              <a:t>姿态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80000" y="36000"/>
            <a:ext cx="840000" cy="306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00" b="0">
                <a:solidFill>
                  <a:srgbClr val="AACCE8"/>
                </a:solidFill>
              </a:defRPr>
            </a:pPr>
            <a:r>
              <a:t>可解释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0000" y="36000"/>
            <a:ext cx="840000" cy="306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总结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88000" y="0"/>
            <a:ext cx="1656000" cy="36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chool_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2000" y="45000"/>
            <a:ext cx="1368000" cy="270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0000" y="540000"/>
            <a:ext cx="79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3D87"/>
                </a:solidFill>
              </a:defRPr>
            </a:pPr>
            <a:r>
              <a:t>九、总结与贡献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00000" y="6408000"/>
            <a:ext cx="9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11/12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000" y="1260000"/>
            <a:ext cx="7560000" cy="46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D2D2D"/>
                </a:solidFill>
              </a:defRPr>
            </a:pPr>
            <a:r>
              <a:t>❶ 多任务统一架构</a:t>
            </a:r>
          </a:p>
          <a:p>
            <a:pPr>
              <a:spcAft>
                <a:spcPts val="600"/>
              </a:spcAft>
              <a:defRPr sz="1300">
                <a:solidFill>
                  <a:srgbClr val="2D2D2D"/>
                </a:solidFill>
              </a:defRPr>
            </a:pPr>
            <a:r>
              <a:t>   三类异构任务在同一共享主干上联合训练</a:t>
            </a:r>
          </a:p>
          <a:p>
            <a:pPr>
              <a:spcAft>
                <a:spcPts val="600"/>
              </a:spcAft>
              <a:defRPr sz="1300">
                <a:solidFill>
                  <a:srgbClr val="2D2D2D"/>
                </a:solidFill>
              </a:defRPr>
            </a:pPr>
            <a:r>
              <a:t>   task_mask 实现运行时任务路由</a:t>
            </a:r>
          </a:p>
          <a:p>
            <a:pPr>
              <a:spcAft>
                <a:spcPts val="600"/>
              </a:spcAft>
              <a:defRPr sz="1300">
                <a:solidFill>
                  <a:srgbClr val="2D2D2D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2D2D2D"/>
                </a:solidFill>
              </a:defRPr>
            </a:pPr>
            <a:r>
              <a:t>❷ 两阶段训练策略 + 双数据源</a:t>
            </a:r>
          </a:p>
          <a:p>
            <a:pPr>
              <a:spcAft>
                <a:spcPts val="600"/>
              </a:spcAft>
              <a:defRPr sz="1300">
                <a:solidFill>
                  <a:srgbClr val="2D2D2D"/>
                </a:solidFill>
              </a:defRPr>
            </a:pPr>
            <a:r>
              <a:t>   "先学结构，后学物理"，预训练权重加速收敛</a:t>
            </a:r>
          </a:p>
          <a:p>
            <a:pPr>
              <a:spcAft>
                <a:spcPts val="600"/>
              </a:spcAft>
              <a:defRPr sz="1300">
                <a:solidFill>
                  <a:srgbClr val="2D2D2D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2D2D2D"/>
                </a:solidFill>
              </a:defRPr>
            </a:pPr>
            <a:r>
              <a:t>❸ 实验验证：单模型全面超越集成方案</a:t>
            </a:r>
          </a:p>
          <a:p>
            <a:pPr>
              <a:spcAft>
                <a:spcPts val="600"/>
              </a:spcAft>
              <a:defRPr sz="1300">
                <a:solidFill>
                  <a:srgbClr val="2D2D2D"/>
                </a:solidFill>
              </a:defRPr>
            </a:pPr>
            <a:r>
              <a:t>   亲和力 R=0.737（+6.5%）</a:t>
            </a:r>
          </a:p>
          <a:p>
            <a:pPr>
              <a:spcAft>
                <a:spcPts val="600"/>
              </a:spcAft>
              <a:defRPr sz="1300">
                <a:solidFill>
                  <a:srgbClr val="2D2D2D"/>
                </a:solidFill>
              </a:defRPr>
            </a:pPr>
            <a:r>
              <a:t>   Top-1 88.56%（超集成）</a:t>
            </a:r>
          </a:p>
          <a:p>
            <a:pPr>
              <a:spcAft>
                <a:spcPts val="600"/>
              </a:spcAft>
              <a:defRPr sz="1300">
                <a:solidFill>
                  <a:srgbClr val="2D2D2D"/>
                </a:solidFill>
              </a:defRPr>
            </a:pPr>
            <a:r>
              <a:t>   PoseBusters RMSD&lt;2Å 69.81%（所有方法最高）</a:t>
            </a:r>
          </a:p>
          <a:p>
            <a:pPr>
              <a:spcAft>
                <a:spcPts val="600"/>
              </a:spcAft>
              <a:defRPr sz="1300">
                <a:solidFill>
                  <a:srgbClr val="2D2D2D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2D2D2D"/>
                </a:solidFill>
              </a:defRPr>
            </a:pPr>
            <a:r>
              <a:t>❹ 可解释能量建模</a:t>
            </a:r>
          </a:p>
          <a:p>
            <a:pPr>
              <a:spcAft>
                <a:spcPts val="600"/>
              </a:spcAft>
              <a:defRPr sz="1300">
                <a:solidFill>
                  <a:srgbClr val="2D2D2D"/>
                </a:solidFill>
              </a:defRPr>
            </a:pPr>
            <a:r>
              <a:t>   氢键/疏水恢复率 79%+</a:t>
            </a:r>
          </a:p>
          <a:p>
            <a:pPr>
              <a:spcAft>
                <a:spcPts val="600"/>
              </a:spcAft>
              <a:defRPr sz="1300">
                <a:solidFill>
                  <a:srgbClr val="2D2D2D"/>
                </a:solidFill>
              </a:defRPr>
            </a:pPr>
            <a:r>
              <a:t>   为药物优化提供原子级证据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D8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zt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1999" y="720000"/>
            <a:ext cx="1440000" cy="1692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20000" y="2880000"/>
            <a:ext cx="7703999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感谢各位老师的指导与评审！</a:t>
            </a:r>
          </a:p>
          <a:p>
            <a:pPr algn="ctr">
              <a:spcBef>
                <a:spcPts val="1600"/>
              </a:spcBef>
              <a:defRPr sz="2000">
                <a:solidFill>
                  <a:srgbClr val="FFFFFF"/>
                </a:solidFill>
              </a:defRPr>
            </a:pPr>
            <a:r>
              <a:t>敬请批评指正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5040000"/>
            <a:ext cx="7703999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答辩人：吴亮希  |  指导教师：王鑫  |  深圳技术大学 人工智能学院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