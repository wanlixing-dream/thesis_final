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540000"/>
            <a:ext cx="82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3A6B"/>
                </a:solidFill>
              </a:defRPr>
            </a:pPr>
            <a:r>
              <a:t>深圳技术大学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440000"/>
            <a:ext cx="75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B3A6B"/>
                </a:solidFill>
              </a:defRPr>
            </a:pPr>
            <a:r>
              <a:t>InterMoBA-MTL：蛋白-配体多任务判别式</a:t>
            </a:r>
            <a:br/>
            <a:r>
              <a:t>预测与可解释能量建模的系统研究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60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答辩人：吴亮希</a:t>
            </a:r>
          </a:p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指导教师：王鑫 助理教授</a:t>
            </a:r>
          </a:p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学院：人工智能学院</a:t>
            </a:r>
          </a:p>
          <a:p>
            <a:pPr algn="ctr"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专业：计算机科学与技术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120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2026年5月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一、研究背景与动机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• </a:t>
            </a:r>
            <a:r>
              <a:rPr sz="1600" b="1">
                <a:solidFill>
                  <a:srgbClr val="333333"/>
                </a:solidFill>
              </a:rPr>
              <a:t>问题背景</a:t>
            </a:r>
            <a:r>
              <a:rPr sz="1600" b="0">
                <a:solidFill>
                  <a:srgbClr val="333333"/>
                </a:solidFill>
              </a:rPr>
              <a:t>：蛋白质-配体结合预测是计算机辅助药物设计的核心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</a:defRPr>
            </a:pPr>
            <a:r>
              <a:t>  → 一款新药平均耗资 20亿美元、耗时 10年以上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• </a:t>
            </a:r>
            <a:r>
              <a:rPr sz="1600" b="1">
                <a:solidFill>
                  <a:srgbClr val="333333"/>
                </a:solidFill>
              </a:rPr>
              <a:t>现有局限</a:t>
            </a:r>
            <a:r>
              <a:rPr sz="1600" b="0">
                <a:solidFill>
                  <a:srgbClr val="333333"/>
                </a:solidFill>
              </a:rPr>
              <a:t>：深度学习方法通常围绕单一任务设计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</a:defRPr>
            </a:pPr>
            <a:r>
              <a:t>  → 亲和力预测 OR 姿态排序 OR 能量估计，缺乏统一框架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• </a:t>
            </a:r>
            <a:r>
              <a:rPr sz="1600" b="1">
                <a:solidFill>
                  <a:srgbClr val="333333"/>
                </a:solidFill>
              </a:rPr>
              <a:t>核心挑战</a:t>
            </a:r>
            <a:r>
              <a:rPr sz="1600" b="0">
                <a:solidFill>
                  <a:srgbClr val="333333"/>
                </a:solidFill>
              </a:rPr>
              <a:t>：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</a:defRPr>
            </a:pPr>
            <a:r>
              <a:t>  → 不同任务数据源异构、量纲不同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</a:defRPr>
            </a:pPr>
            <a:r>
              <a:t>  → 共享主干上梯度方向冲突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</a:defRPr>
            </a:pPr>
            <a:r>
              <a:t>  → 简单 loss 加和效果不佳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333333"/>
                </a:solidFill>
              </a:rPr>
              <a:t>• </a:t>
            </a:r>
            <a:r>
              <a:rPr sz="1600" b="1">
                <a:solidFill>
                  <a:srgbClr val="333333"/>
                </a:solidFill>
              </a:rPr>
              <a:t>本文思路</a:t>
            </a:r>
            <a:r>
              <a:rPr sz="1600" b="0">
                <a:solidFill>
                  <a:srgbClr val="333333"/>
                </a:solidFill>
              </a:rPr>
              <a:t>：预训练+微调的两阶段多任务框架</a:t>
            </a:r>
          </a:p>
          <a:p>
            <a:pPr>
              <a:spcAft>
                <a:spcPts val="200"/>
              </a:spcAft>
              <a:defRPr sz="1600">
                <a:solidFill>
                  <a:srgbClr val="666666"/>
                </a:solidFill>
              </a:defRPr>
            </a:pPr>
            <a:r>
              <a:t>  → "先学结构，后学物理"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二、主要研究内容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1260000"/>
            <a:ext cx="540000" cy="5400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2000" y="1224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6B"/>
                </a:solidFill>
              </a:defRPr>
            </a:pPr>
            <a:r>
              <a:t>Graph-Transformer 建模框架与预训练任务组织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0" y="1656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基于 Interformer 共享主干，通过亲和力+姿态任务获得稳定表征</a:t>
            </a:r>
          </a:p>
        </p:txBody>
      </p:sp>
      <p:sp>
        <p:nvSpPr>
          <p:cNvPr id="6" name="Oval 5"/>
          <p:cNvSpPr/>
          <p:nvPr/>
        </p:nvSpPr>
        <p:spPr>
          <a:xfrm>
            <a:off x="720000" y="2520000"/>
            <a:ext cx="540000" cy="5400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2000" y="2484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6B"/>
                </a:solidFill>
              </a:defRPr>
            </a:pPr>
            <a:r>
              <a:t>预训练—微调的两阶段训练策略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2000" y="2916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先冻结主干训练新任务头，再全参数联合优化</a:t>
            </a:r>
          </a:p>
        </p:txBody>
      </p:sp>
      <p:sp>
        <p:nvSpPr>
          <p:cNvPr id="9" name="Oval 8"/>
          <p:cNvSpPr/>
          <p:nvPr/>
        </p:nvSpPr>
        <p:spPr>
          <a:xfrm>
            <a:off x="720000" y="3780000"/>
            <a:ext cx="540000" cy="5400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2000" y="3744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6B"/>
                </a:solidFill>
              </a:defRPr>
            </a:pPr>
            <a:r>
              <a:t>双数据源交替训练与任务掩蔽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2000" y="4176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Energy 与 Affinity+Pose 异构数据源交替采样</a:t>
            </a:r>
          </a:p>
        </p:txBody>
      </p:sp>
      <p:sp>
        <p:nvSpPr>
          <p:cNvPr id="12" name="Oval 11"/>
          <p:cNvSpPr/>
          <p:nvPr/>
        </p:nvSpPr>
        <p:spPr>
          <a:xfrm>
            <a:off x="720000" y="5040000"/>
            <a:ext cx="540000" cy="5400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2000" y="5004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6B"/>
                </a:solidFill>
              </a:defRPr>
            </a:pPr>
            <a:r>
              <a:t>可解释能量建模与评测协议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2000" y="5436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四分量高斯能量分解 + RMSD/Pearson/AUROC 评测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三、InterMoBA-MTL 系统架构</a:t>
            </a:r>
          </a:p>
        </p:txBody>
      </p:sp>
      <p:pic>
        <p:nvPicPr>
          <p:cNvPr id="3" name="Picture 2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7920000" cy="5556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四、两阶段训练策略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45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3A6B"/>
                </a:solidFill>
              </a:defRPr>
            </a:pPr>
            <a:r>
              <a:t>阶段一：预训练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亲和力回归 + 姿态选择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学习稳定的蛋白-配体交互表征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Interformer 主干参数初始化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E74C3C"/>
                </a:solidFill>
              </a:defRPr>
            </a:pPr>
            <a:r>
              <a:t>阶段二：多任务微调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引入能量监督（Vina 四分量）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前5 epoch 冻结主干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之后全参数联合优化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双数据源交替采样（p=0.3）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2E86C1"/>
                </a:solidFill>
              </a:defRPr>
            </a:pPr>
            <a:r>
              <a:t>关键效果：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预训练权重加载率 94.6%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• val_pose_sel: 0.50→0.801（epoch 0）</a:t>
            </a:r>
          </a:p>
        </p:txBody>
      </p:sp>
      <p:pic>
        <p:nvPicPr>
          <p:cNvPr id="4" name="Picture 3" descr="weight_sched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0" y="1260000"/>
            <a:ext cx="3960000" cy="2175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五、可解释能量建模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432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3A6B"/>
                </a:solidFill>
              </a:defRPr>
            </a:pPr>
            <a:r>
              <a:t>四分量高斯混合能量模型：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vdW (attractive): 范德华吸引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vdW (repulsive): 范德华排斥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Hydrophobic: 疏水相互作用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H-bond: 氢键相互作用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1B3A6B"/>
                </a:solidFill>
              </a:defRPr>
            </a:pPr>
            <a:r>
              <a:t>设计要点：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原子对类型掩蔽机制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→ 疏水项仅作用于非极性原子对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  → 氢键项约束供体-受体匹配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几何约束（碰撞检测+最小距离）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提供原子对级可解释性</a:t>
            </a:r>
          </a:p>
        </p:txBody>
      </p:sp>
      <p:pic>
        <p:nvPicPr>
          <p:cNvPr id="4" name="Picture 3" descr="gaussian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080000"/>
            <a:ext cx="4140000" cy="2438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六、实验结果 — 亲和力预测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468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PDBbind 2020 time-split 测试集（341 targets）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模型                    Pearson R    RMSE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─────────────────────────────────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GNINA                      0.495     1.74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TankBind                   0.718     1.35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Interformer (单模型)      0.692     1.37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Interformer (4模型集成)   0.702     1.33</a:t>
            </a: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InterMoBA-MTL (单模型)   0.737     1.27  ★</a:t>
            </a:r>
          </a:p>
          <a:p>
            <a:pPr>
              <a:defRPr sz="1300">
                <a:solidFill>
                  <a:srgbClr val="333333"/>
                </a:solidFill>
              </a:defRPr>
            </a:pPr>
          </a:p>
          <a:p>
            <a:pPr>
              <a:defRPr sz="1400" b="1">
                <a:solidFill>
                  <a:srgbClr val="2E86C1"/>
                </a:solidFill>
              </a:defRPr>
            </a:pPr>
            <a:r>
              <a:t>★ 单模型超越4模型集成！</a:t>
            </a:r>
          </a:p>
          <a:p>
            <a:pPr>
              <a:defRPr sz="1400" b="0">
                <a:solidFill>
                  <a:srgbClr val="2E86C1"/>
                </a:solidFill>
              </a:defRPr>
            </a:pPr>
            <a:r>
              <a:t>  → 较最佳单模型提升 6.5%</a:t>
            </a:r>
          </a:p>
          <a:p>
            <a:pPr>
              <a:defRPr sz="1400" b="0">
                <a:solidFill>
                  <a:srgbClr val="2E86C1"/>
                </a:solidFill>
              </a:defRPr>
            </a:pPr>
            <a:r>
              <a:t>  → 较4模型集成提升 5.0%</a:t>
            </a:r>
          </a:p>
        </p:txBody>
      </p:sp>
      <p:pic>
        <p:nvPicPr>
          <p:cNvPr id="4" name="Picture 3" descr="affinity_scatter_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1080000"/>
            <a:ext cx="3780000" cy="1781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七、姿态选择 &amp; PoseBusters 独立验证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432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3A6B"/>
                </a:solidFill>
              </a:defRPr>
            </a:pPr>
            <a:r>
              <a:t>姿态选择（7161 poses, RMSD&lt;2Å）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模型              AUROC  Top-1%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Interformer 集成   0.938  87.39%</a:t>
            </a:r>
          </a:p>
          <a:p>
            <a:pPr>
              <a:spcAft>
                <a:spcPts val="300"/>
              </a:spcAft>
              <a:defRPr sz="1400" b="1">
                <a:solidFill>
                  <a:srgbClr val="E74C3C"/>
                </a:solidFill>
              </a:defRPr>
            </a:pPr>
            <a:r>
              <a:t>InterMoBA-MTL      0.924  88.56% ★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2E86C1"/>
                </a:solidFill>
              </a:defRPr>
            </a:pPr>
            <a:r>
              <a:t>→ 单模型Top-1超越4模型集成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3960000"/>
            <a:ext cx="43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B3A6B"/>
                </a:solidFill>
              </a:defRPr>
            </a:pPr>
            <a:r>
              <a:t>PoseBusters v2 独立验证（n=308）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RMSD&lt;2Å: 69.81%（所有方法最高）</a:t>
            </a:r>
          </a:p>
          <a:p>
            <a:pPr>
              <a:spcAft>
                <a:spcPts val="300"/>
              </a:spcAft>
              <a:defRPr sz="1400" b="0">
                <a:solidFill>
                  <a:srgbClr val="2E86C1"/>
                </a:solidFill>
              </a:defRPr>
            </a:pPr>
            <a:r>
              <a:t>  → 超 Vina 9.8%, 超 DiffDock 31.8%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证明分布外数据泛化能力</a:t>
            </a:r>
          </a:p>
        </p:txBody>
      </p:sp>
      <p:pic>
        <p:nvPicPr>
          <p:cNvPr id="5" name="Picture 4" descr="posebuster_benchmark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080000"/>
            <a:ext cx="4140000" cy="172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八、可解释性 — 相互作用恢复分析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1080000"/>
            <a:ext cx="45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B3A6B"/>
                </a:solidFill>
              </a:defRPr>
            </a:pPr>
            <a:r>
              <a:t>PLIP 相互作用恢复率对比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方法            氢键   疏水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──────────────────────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DeepDock         21.4%  ---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DiffDock         30.5%  ---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Interformer      50.2%  38.5%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InterMoBA-Energy 62.7%  50.1%</a:t>
            </a:r>
          </a:p>
          <a:p>
            <a:pPr>
              <a:spcAft>
                <a:spcPts val="300"/>
              </a:spcAft>
              <a:defRPr sz="1400" b="1">
                <a:solidFill>
                  <a:srgbClr val="E74C3C"/>
                </a:solidFill>
              </a:defRPr>
            </a:pPr>
            <a:r>
              <a:t>InterMoBA-MTL    79.3%  79.9% ★</a:t>
            </a:r>
          </a:p>
          <a:p>
            <a:pPr>
              <a:spcAft>
                <a:spcPts val="3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Aft>
                <a:spcPts val="300"/>
              </a:spcAft>
              <a:defRPr sz="1500" b="1">
                <a:solidFill>
                  <a:srgbClr val="2E86C1"/>
                </a:solidFill>
              </a:defRPr>
            </a:pPr>
            <a:r>
              <a:t>关键发现：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能量监督显著提升局部交互敏感度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多任务联合训练有叠加效果</a:t>
            </a:r>
          </a:p>
          <a:p>
            <a:pPr>
              <a:spcAft>
                <a:spcPts val="300"/>
              </a:spcAft>
              <a:defRPr sz="1400" b="0">
                <a:solidFill>
                  <a:srgbClr val="333333"/>
                </a:solidFill>
              </a:defRPr>
            </a:pPr>
            <a:r>
              <a:t>• 模型具备原子对级可解释输出能力</a:t>
            </a:r>
          </a:p>
        </p:txBody>
      </p:sp>
      <p:pic>
        <p:nvPicPr>
          <p:cNvPr id="4" name="Picture 3" descr="6ggb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00" y="1080000"/>
            <a:ext cx="3960000" cy="23632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92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defRPr sz="2800" b="1">
                <a:solidFill>
                  <a:srgbClr val="FFFFFF"/>
                </a:solidFill>
              </a:defRPr>
            </a:pPr>
            <a:r>
              <a:t>  九、总结与贡献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75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000" b="1">
                <a:solidFill>
                  <a:srgbClr val="1B3A6B"/>
                </a:solidFill>
              </a:defRPr>
            </a:pPr>
            <a:r>
              <a:t>主要贡献</a:t>
            </a:r>
          </a:p>
          <a:p>
            <a:pPr>
              <a:spcAft>
                <a:spcPts val="200"/>
              </a:spcAft>
              <a:defRPr sz="1200" b="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700" b="1">
                <a:solidFill>
                  <a:srgbClr val="2E86C1"/>
                </a:solidFill>
              </a:defRPr>
            </a:pPr>
            <a:r>
              <a:t>❶  多任务统一架构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</a:defRPr>
            </a:pPr>
            <a:r>
              <a:t>    三类异构任务在同一共享主干上联合训练，task_mask + MoBA路由实现软分离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700" b="1">
                <a:solidFill>
                  <a:srgbClr val="2E86C1"/>
                </a:solidFill>
              </a:defRPr>
            </a:pPr>
            <a:r>
              <a:t>❷  两阶段训练策略 + 双数据源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</a:defRPr>
            </a:pPr>
            <a:r>
              <a:t>    “先学结构，后学物理”，预训练权重正确加载使收敛加速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700" b="1">
                <a:solidFill>
                  <a:srgbClr val="2E86C1"/>
                </a:solidFill>
              </a:defRPr>
            </a:pPr>
            <a:r>
              <a:t>❸  实验验证：单模型超越集成方案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</a:defRPr>
            </a:pPr>
            <a:r>
              <a:t>    亲和力 R=0.737（+6.5%），Top-1 88.56%（超集成）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</a:defRPr>
            </a:pPr>
            <a:r>
              <a:t>    PoseBusters 独立验证 RMSD&lt;2Å 69.81%（最高）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</a:p>
          <a:p>
            <a:pPr>
              <a:spcAft>
                <a:spcPts val="200"/>
              </a:spcAft>
              <a:defRPr sz="1700" b="1">
                <a:solidFill>
                  <a:srgbClr val="2E86C1"/>
                </a:solidFill>
              </a:defRPr>
            </a:pPr>
            <a:r>
              <a:t>❹  可解释能量建模</a:t>
            </a:r>
          </a:p>
          <a:p>
            <a:pPr>
              <a:spcAft>
                <a:spcPts val="200"/>
              </a:spcAft>
              <a:defRPr sz="1400" b="0">
                <a:solidFill>
                  <a:srgbClr val="333333"/>
                </a:solidFill>
              </a:defRPr>
            </a:pPr>
            <a:r>
              <a:t>    氢键/疏水恢复率 79%+，为药物优化提供原子级证据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75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6B"/>
                </a:solidFill>
              </a:defRPr>
            </a:pPr>
            <a:r>
              <a:t>感谢各位老师的指导与评审！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78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</a:defRPr>
            </a:pPr>
            <a:r>
              <a:t>敬请批评指正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00000"/>
            <a:ext cx="75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答辩人：吴亮希  |  指导教师：王鑫  |  深圳技术大学 人工智能学院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8000"/>
            <a:ext cx="9144000" cy="270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